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Metrics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14F5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AUC-ROC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  <c:pt idx="4">
                    <c:v>Accuracy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0.82</c:v>
                </c:pt>
                <c:pt idx="1">
                  <c:v>0.78</c:v>
                </c:pt>
                <c:pt idx="2">
                  <c:v>0.76</c:v>
                </c:pt>
                <c:pt idx="3">
                  <c:v>0.77</c:v>
                </c:pt>
                <c:pt idx="4">
                  <c:v>0.81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14F5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AI-Powered Alternate Credit Scoring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Enabling Financial Inclusion Through Machine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Innovative Credit Assessment for the Unbanked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Agenda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1. Problem Statement &amp; Market Gap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2. Our Solution &amp; Approach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3. Technical Architecture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4. Alternative Data Sources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5. Machine Learning Models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6. Model Performance &amp; Results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7. Explainability &amp; Transparency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8. Fairness &amp; Bias Mitigation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9. Business Impact &amp; ROI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10. Implementation Roadmap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11. Risk Management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12. Conclusion &amp; 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The Problem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4F59"/>
                </a:solidFill>
              </a:rPr>
              <a:t>Financial Exclusion Crisis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1.4 billion adults globally remain unbanked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Millions of MSMEs cannot access formal credit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Traditional scoring models are rigid and outdated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Lack of credit history = automatic rejection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1A"/>
                </a:solidFill>
              </a:rPr>
              <a:t>Perpetuates cycle of financial inequality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Consequences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Limited economic opportunities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Dependence on predatory lenders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High interest rates (300-500%)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Stunted business growth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Increased poverty and inequality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Our Solution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AI-Powered Credit Scoring Using Alternative Data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560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Alternative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0" y="2560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Transaction patterns, utility payments, e-commerce activity, social media business presence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154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Machine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XGBoost, Random Forest, ensemble methods for superior prediction accuracy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Explainable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7490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SHAP values for transparent, interpretable credit decisions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434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88720" y="4343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Fairness First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4343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</a:rPr>
              <a:t>Built-in bias detection and mitigation using disparate impact analysis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Market Opportunity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91440" cy="32004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</a:rPr>
              <a:t>1.4B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4F59"/>
                </a:solidFill>
              </a:rPr>
              <a:t>Unbanked Adults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Worldwide untapped market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371600"/>
            <a:ext cx="91440" cy="3200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C39A"/>
                </a:solidFill>
              </a:rPr>
              <a:t>AUC 0.82+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56616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4F59"/>
                </a:solidFill>
              </a:rPr>
              <a:t>Model Accuracy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5760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Exceeds 0.79+ target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91440" cy="3200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</a:rPr>
              <a:t>60%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14F59"/>
                </a:solidFill>
              </a:rPr>
              <a:t>Cost Reduction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32918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A5A"/>
                </a:solidFill>
              </a:rPr>
              <a:t>vs manual underwriting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Technical Architecture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123444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Data 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Transaction patterns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Utility payments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E-commerce sales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Social media activity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pandas &amp; numpy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Feature engineering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SMOTE balancing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StandardScaler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356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ML Models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XGBoost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Random Forest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Logistic Regression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Ensemble methods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18120" y="11887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0880" y="1828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Explainability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237744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SHAP values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Feature importance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Force plots</a:t>
            </a:r>
            <a:endParaRPr lang="en-US" sz="11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Bias auditing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Alternative Data Sources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Transaction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Mobile money transfers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Digital wallet usage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P2P payment patterns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Transaction frequency &amp; volume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28016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Utility Payments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1031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Electricity bill history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Water &amp; gas payments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Internet/phone bills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Payment timeliness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280160"/>
            <a:ext cx="27432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Digital Footprint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E-commerce purchases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Social media business activity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Online marketplace ratings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Customer reviews &amp; feedback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Machine Learning Models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7315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914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XGBoost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Primary Production 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417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Gradient boosting • High accuracy • Feature importance • Fast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7315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48840"/>
            <a:ext cx="914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40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Random Forest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60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Interpretable Alternative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Ensemble learning • Handles non-linearity • Robust to outliers • Variable importance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315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017520"/>
            <a:ext cx="914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108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429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Baseline &amp; Benchmark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Fast &amp; simple • Probabilistic output • Linear relationships • Easy interpretation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86200"/>
            <a:ext cx="9144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KNN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4297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Sanity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023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Non-parametric • Instance-based • Simple validation • Comparison baseline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Model Performance &amp; Results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28016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Explainability &amp; Transparency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SHAP (SHapley Additive exPlanations)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Global Feature Importance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  → Which features matter most overall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Individual Predictions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  → Why each applicant got their score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Force Plots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  → Visual explanation of decisions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Regulatory Compliance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  → Meets RBI &amp; EU AI Act 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It Matters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201168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Regulatory compliance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Customer trust &amp; transparency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Dispute resolution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Model debugging &amp; improvement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Ethical AI practices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✓ Risk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Fairness &amp; Bias Mitigation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Protected Attributes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Removed from model training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Gender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Ethnicity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Religion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Age (where applicable)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Disparate Impact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Four-fifths rule compliance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Group analysis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Selection rate ratios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80% threshold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Continuous monitoring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52360" y="155448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4523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4F59"/>
                </a:solidFill>
              </a:rPr>
              <a:t>Subgroup Testing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2606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</a:rPr>
              <a:t>Equal accuracy across groups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1089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Demographic parity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Equalized odds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Calibration testing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Performance audits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Business Impact &amp; ROI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444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Expanded Customer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14447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1.4B potential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Access to previously unbanked populations worldwide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0574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Improved Risk Assessment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30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0.82 AUC-ROC score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Superior prediction accuracy using alternative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7432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816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Cost Efficiency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28163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60% cost reduction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632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Automated ML scoring vs. manual underwriting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7680960" cy="54864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4290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502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Scalable Operations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1000+ decisions/hour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37490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Real-time processing across emerging markets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14800"/>
            <a:ext cx="9144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187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9"/>
                </a:solidFill>
              </a:rPr>
              <a:t>Societal Impact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0" y="41879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Financial inclusion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97280" y="443484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</a:rPr>
              <a:t>Reduces dependence on predatory lenders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Implementation Roadmap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Prototype &amp;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Weeks 1-2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Dataset exploration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Baseline models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Initial evaluation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SHAP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280160"/>
            <a:ext cx="27432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Optimization &amp; Tuning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Weeks 3-4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Feature engineering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Hyperparameter tuning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Model ensemble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Bias auditing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743200" cy="320040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8016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Phase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4F59"/>
                </a:solidFill>
              </a:rPr>
              <a:t>Production Deployment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</a:rPr>
              <a:t>Weeks 5-6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API development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Monitoring setup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Documentation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✓ Security hardening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28090"/>
                </a:solidFill>
              </a:rPr>
              <a:t>Risk Management &amp; Compliance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114800" cy="155448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Data Privacy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No PII collection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GDPR/DPDP compliance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Secure data storage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Encryption at rest &amp; transit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4114800" cy="155448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28016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 Risks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Continuous monitoring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Model drift detection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A/B testing framework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Fallback mechanisms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Regulatory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RBI Fair Practices Code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EU AI Act compliance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Consumer protection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Regular audits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3017520"/>
            <a:ext cx="4114800" cy="1554480"/>
          </a:xfrm>
          <a:prstGeom prst="rect">
            <a:avLst/>
          </a:prstGeom>
          <a:solidFill>
            <a:srgbClr val="F0F9F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017520"/>
            <a:ext cx="4114800" cy="4572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99.9% uptime SLA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Disaster recovery plan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Load balancing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• Rate limiting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Democratizing Credit Access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828800" y="2194560"/>
            <a:ext cx="5486400" cy="18288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103120" y="2377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✓ AI-powered credit scoring for the unbanked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✓ 0.82 AUC-ROC with alternative data sources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✓ SHAP explainability for regulatory compliance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✓ Built-in fairness and bias mitigation</a:t>
            </a: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endParaRPr lang="en-US" sz="14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✓ 60% cost reduction, 1.4B market opportunity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CADCFC"/>
                </a:solidFill>
              </a:rPr>
              <a:t>Building a More Inclusive Financial Future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Alternate Credit Scoring</dc:title>
  <dc:subject>PptxGenJS Presentation</dc:subject>
  <dc:creator>AI Credit Scoring Team</dc:creator>
  <cp:lastModifiedBy>AI Credit Scoring Team</cp:lastModifiedBy>
  <cp:revision>1</cp:revision>
  <dcterms:created xsi:type="dcterms:W3CDTF">2026-02-16T18:24:02Z</dcterms:created>
  <dcterms:modified xsi:type="dcterms:W3CDTF">2026-02-16T18:24:02Z</dcterms:modified>
</cp:coreProperties>
</file>